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5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2926080" cy="3474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/>
              <a:t>MACHINE LEARNING </a:t>
            </a:r>
            <a:r>
              <a:rPr lang="en-US" sz="900" b="1" kern="0" spc="300" dirty="0" smtClean="0"/>
              <a:t>X </a:t>
            </a:r>
            <a:r>
              <a:rPr lang="en-US" sz="900" b="1" kern="0" spc="300" dirty="0"/>
              <a:t>E-COMMERCE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2179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AliExpress Pricing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Recommender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 Two-Stage ML Pipeline for Supply-Side Pricing Intelligence</a:t>
            </a:r>
          </a:p>
        </p:txBody>
      </p:sp>
      <p:sp>
        <p:nvSpPr>
          <p:cNvPr id="9" name="Text 7"/>
          <p:cNvSpPr/>
          <p:nvPr/>
        </p:nvSpPr>
        <p:spPr>
          <a:xfrm>
            <a:off x="6949440" y="731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9494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AAAAA"/>
                </a:solidFill>
              </a:rPr>
              <a:t>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4944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AAAAA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4944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AAAAA"/>
                </a:solidFill>
              </a:rPr>
              <a:t>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</a:rPr>
              <a:t>Academic </a:t>
            </a:r>
            <a:r>
              <a:rPr lang="en-US" sz="1000" dirty="0" smtClean="0">
                <a:solidFill>
                  <a:schemeClr val="bg1"/>
                </a:solidFill>
              </a:rPr>
              <a:t>Year : 2025 </a:t>
            </a:r>
            <a:r>
              <a:rPr lang="en-US" sz="1000" dirty="0">
                <a:solidFill>
                  <a:schemeClr val="bg1"/>
                </a:solidFill>
              </a:rPr>
              <a:t>/ </a:t>
            </a:r>
            <a:r>
              <a:rPr lang="en-US" sz="1000" dirty="0" smtClean="0">
                <a:solidFill>
                  <a:schemeClr val="bg1"/>
                </a:solidFill>
              </a:rPr>
              <a:t>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chemeClr val="bg1">
                    <a:lumMod val="95000"/>
                  </a:schemeClr>
                </a:solidFill>
              </a:rPr>
              <a:t>Takwa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000" dirty="0" err="1" smtClean="0">
                <a:solidFill>
                  <a:schemeClr val="bg1">
                    <a:lumMod val="95000"/>
                  </a:schemeClr>
                </a:solidFill>
              </a:rPr>
              <a:t>Bennjima</a:t>
            </a:r>
            <a:r>
              <a:rPr lang="en-US" sz="1000" dirty="0" smtClean="0">
                <a:solidFill>
                  <a:schemeClr val="bg1">
                    <a:lumMod val="95000"/>
                  </a:schemeClr>
                </a:solidFill>
              </a:rPr>
              <a:t> &amp; </a:t>
            </a:r>
            <a:r>
              <a:rPr lang="en-US" sz="1000" dirty="0" err="1" smtClean="0">
                <a:solidFill>
                  <a:schemeClr val="bg1">
                    <a:lumMod val="95000"/>
                  </a:schemeClr>
                </a:solidFill>
              </a:rPr>
              <a:t>Yahya</a:t>
            </a:r>
            <a:r>
              <a:rPr lang="en-US" sz="1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000" dirty="0" err="1" smtClean="0">
                <a:solidFill>
                  <a:schemeClr val="bg1">
                    <a:lumMod val="95000"/>
                  </a:schemeClr>
                </a:solidFill>
              </a:rPr>
              <a:t>Mabrouk</a:t>
            </a:r>
            <a:r>
              <a:rPr lang="en-US" sz="1000" dirty="0" smtClean="0">
                <a:solidFill>
                  <a:schemeClr val="bg1">
                    <a:lumMod val="95000"/>
                  </a:schemeClr>
                </a:solidFill>
              </a:rPr>
              <a:t>  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>
                    <a:lumMod val="50000"/>
                  </a:schemeClr>
                </a:solidFill>
              </a:rPr>
              <a:t>01  —  PROBLEM STATEMENT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Pricing Strategy Gap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85900"/>
            <a:ext cx="2651760" cy="219456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400" b="1" dirty="0"/>
              <a:t>Customer </a:t>
            </a:r>
            <a:r>
              <a:rPr lang="fr-FR" sz="1400" b="1" dirty="0" err="1"/>
              <a:t>decision</a:t>
            </a:r>
            <a:r>
              <a:rPr lang="fr-FR" sz="1400" b="1" dirty="0"/>
              <a:t> </a:t>
            </a:r>
            <a:r>
              <a:rPr lang="fr-FR" sz="1400" b="1" dirty="0" err="1"/>
              <a:t>bias</a:t>
            </a:r>
            <a:endParaRPr lang="en-US" sz="1300" b="1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Most pricing tools focus on what customers pay, but fail to provide sellers with actionable strategies.</a:t>
            </a:r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219456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55% Underperform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More than half of all AliExpress products fail to sell effectively despite competitive prices.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89888"/>
            <a:ext cx="2651760" cy="219456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No </a:t>
            </a:r>
            <a:r>
              <a:rPr lang="en-US" sz="1300" b="1" dirty="0" smtClean="0">
                <a:solidFill>
                  <a:srgbClr val="1A3A5C"/>
                </a:solidFill>
              </a:rPr>
              <a:t>Clear Guide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</a:t>
            </a: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ellers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can’t tell which pricing approach increases sales in their category.</a:t>
            </a:r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78ADD"/>
                </a:solidFill>
              </a:rPr>
              <a:t>Research Question: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"What pricing strategies do sellers adopt, and which strategy performs best per product category?"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3A5C"/>
                </a:solidFill>
              </a:rPr>
              <a:t>02  —  DATASET &amp;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Supply-Side Analysis at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711,168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Products after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73152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Product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73152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26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Products with discounts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31336"/>
            <a:ext cx="73152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Engineered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325880"/>
            <a:ext cx="4206240" cy="347472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Two-Stage ML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65960"/>
            <a:ext cx="384048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75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78ADD"/>
                </a:solidFill>
              </a:rPr>
              <a:t>Stage 1  ·  UNSUPERVISED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923"/>
                </a:solidFill>
              </a:rPr>
              <a:t>K-Means Clustering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2624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Discover pricing archetypes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91840"/>
            <a:ext cx="3840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71"/>
                </a:solidFill>
              </a:rPr>
              <a:t>Stage 2  ·  SUPERVISED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639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923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920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Predict best strategy per product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78ADD"/>
                </a:solidFill>
              </a:rPr>
              <a:t>03  —  CLUSTERING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Pricing Strategy Archetypes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K-Means (K=3, Silhouette Score = 0.31)  ·  711,168 products clustered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3200400"/>
          </a:xfrm>
          <a:prstGeom prst="rect">
            <a:avLst/>
          </a:prstGeom>
          <a:solidFill>
            <a:srgbClr val="0D2818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Discounter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Sold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131 units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Price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46 </a:t>
            </a:r>
            <a:r>
              <a:rPr lang="en-US" sz="1000" b="1" dirty="0" smtClean="0">
                <a:solidFill>
                  <a:srgbClr val="FFFFFF"/>
                </a:solidFill>
              </a:rPr>
              <a:t>SAR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4.77 /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Share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36.7%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214884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CC71"/>
                </a:solidFill>
              </a:rPr>
              <a:t>WINNING STRATEGY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508760"/>
            <a:ext cx="2697480" cy="3200400"/>
          </a:xfrm>
          <a:prstGeom prst="rect">
            <a:avLst/>
          </a:prstGeom>
          <a:solidFill>
            <a:srgbClr val="2D0E0E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508760"/>
            <a:ext cx="269748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645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Overpriced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Low Performer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3756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Sold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7 units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Price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1,252 </a:t>
            </a:r>
            <a:r>
              <a:rPr lang="en-US" sz="1000" b="1" dirty="0" smtClean="0">
                <a:solidFill>
                  <a:srgbClr val="FFFFFF"/>
                </a:solidFill>
              </a:rPr>
              <a:t>SAR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1.32 /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Share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8.2%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4389120"/>
            <a:ext cx="214884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4C3C"/>
                </a:solidFill>
              </a:rPr>
              <a:t>AVOID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1508760"/>
            <a:ext cx="2697480" cy="3200400"/>
          </a:xfrm>
          <a:prstGeom prst="rect">
            <a:avLst/>
          </a:prstGeom>
          <a:solidFill>
            <a:srgbClr val="1E1500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508760"/>
            <a:ext cx="269748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645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7220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Underperformer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Sold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788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 units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Avg Price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06640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94 </a:t>
            </a:r>
            <a:r>
              <a:rPr lang="en-US" sz="1000" b="1" dirty="0" smtClean="0">
                <a:solidFill>
                  <a:srgbClr val="FFFFFF"/>
                </a:solidFill>
              </a:rPr>
              <a:t>SAR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0.70 / 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Share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55.1%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4389120"/>
            <a:ext cx="214884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39C12"/>
                </a:solidFill>
              </a:rPr>
              <a:t>NEEDS FIX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</a:rPr>
              <a:t>04  —  MODEL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</a:rPr>
              <a:t>F1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91.71%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91.76%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60320"/>
            <a:ext cx="73152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Random Forest (Tuned)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94.17%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715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94.19%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2715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</a:rPr>
              <a:t>✓ SELECTED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64008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XGBoost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93.77%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</a:rPr>
              <a:t>93.79%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78ADD"/>
                </a:solidFill>
              </a:rPr>
              <a:t>5-Fold Cross Validation: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98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Mean F1 = 93.28%  ·  Std = 0.12%  →  Model is STABLE ✅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4B31"/>
                </a:solidFill>
              </a:rPr>
              <a:t>05  —  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Smart Discounter wins everywhere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92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Wins in 99.3% of all 300+ categories — strategy is universal, not category-specific.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Rating is the #1 success driver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89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Feature importance = 34%. High rating (4.5+) is the single strongest predictor of strategy success.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4904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Discounting is the norm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9867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84% of products are discounted. 50% discount is the most popular tier — psychological pricing effect.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18x sales gap between strategies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1792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Smart Discounter averages 131 units sold vs 7 for Overpriced Low Performer and 2 for Underperformer.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65176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Category barely matters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2889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category_id has only 2% feature importance — same strategy works across electronics, fashion, beauty.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66160"/>
            <a:ext cx="4114800" cy="914400"/>
          </a:xfrm>
          <a:prstGeom prst="rect">
            <a:avLst/>
          </a:prstGeom>
          <a:solidFill>
            <a:srgbClr val="F7F6F2"/>
          </a:solidFill>
          <a:ln w="1270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49040"/>
            <a:ext cx="34747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Free shipping = competitive edge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9867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Only 30% of products offer free shipping — a clear opportunity for differentiation.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CC71"/>
                </a:solidFill>
              </a:rPr>
              <a:t>06  —  CONCLUSION &amp;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Actionable Strategy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3429000"/>
          </a:xfrm>
          <a:prstGeom prst="rect">
            <a:avLst/>
          </a:prstGeom>
          <a:solidFill>
            <a:srgbClr val="1A3A5C"/>
          </a:solidFill>
          <a:ln w="12700">
            <a:solidFill>
              <a:srgbClr val="378A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🏷️ Streamlit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8ADD"/>
                </a:solidFill>
              </a:rPr>
              <a:t>Pricing Strategy Recommender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Input: Category + Price + Rating + Shipping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ML prediction with confidence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Recommended discount range (25–50%)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Radar chart vs ideal Smart Discounter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3-step personalized action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41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→  Category insights + avg units sold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965960" cy="1417320"/>
          </a:xfrm>
          <a:prstGeom prst="rect">
            <a:avLst/>
          </a:prstGeom>
          <a:solidFill>
            <a:srgbClr val="0D1F2D"/>
          </a:solidFill>
          <a:ln w="12700">
            <a:solidFill>
              <a:srgbClr val="7BB5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19659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508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965960" cy="1417320"/>
          </a:xfrm>
          <a:prstGeom prst="rect">
            <a:avLst/>
          </a:prstGeom>
          <a:solidFill>
            <a:srgbClr val="0D1F2D"/>
          </a:solidFill>
          <a:ln w="12700">
            <a:solidFill>
              <a:srgbClr val="7BB5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280160"/>
            <a:ext cx="19659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508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0372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CV Mean F1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1965960" cy="1417320"/>
          </a:xfrm>
          <a:prstGeom prst="rect">
            <a:avLst/>
          </a:prstGeom>
          <a:solidFill>
            <a:srgbClr val="0D1F2D"/>
          </a:solidFill>
          <a:ln w="12700">
            <a:solidFill>
              <a:srgbClr val="7BB5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19659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54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0.12%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5488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CV Std (Stable)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926080"/>
            <a:ext cx="1965960" cy="1417320"/>
          </a:xfrm>
          <a:prstGeom prst="rect">
            <a:avLst/>
          </a:prstGeom>
          <a:solidFill>
            <a:srgbClr val="0D1F2D"/>
          </a:solidFill>
          <a:ln w="12700">
            <a:solidFill>
              <a:srgbClr val="7BB5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2926080"/>
            <a:ext cx="19659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154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0372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Categories Covered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</a:rPr>
              <a:t>Smart Discounter wins in 99.3% of categories  ·  Rating #1 driver  ·  18x more sales than Overpriced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8" y="65943"/>
            <a:ext cx="8973622" cy="49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0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81" y="0"/>
            <a:ext cx="86160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50" y="0"/>
            <a:ext cx="8635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7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71" y="0"/>
            <a:ext cx="86178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04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2248585"/>
            <a:ext cx="42965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THANKS FOR YOUR ATTENTION </a:t>
            </a:r>
            <a:endParaRPr lang="fr-FR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87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556</Words>
  <Application>Microsoft Office PowerPoint</Application>
  <PresentationFormat>Affichage à l'écran (16:9)</PresentationFormat>
  <Paragraphs>143</Paragraphs>
  <Slides>12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AliExpress Pricing Strategy Recommender</dc:title>
  <dc:subject>PptxGenJS Presentation</dc:subject>
  <dc:creator>PptxGenJS</dc:creator>
  <cp:lastModifiedBy>HP USER</cp:lastModifiedBy>
  <cp:revision>5</cp:revision>
  <dcterms:created xsi:type="dcterms:W3CDTF">2026-04-02T19:53:06Z</dcterms:created>
  <dcterms:modified xsi:type="dcterms:W3CDTF">2026-04-03T19:09:08Z</dcterms:modified>
</cp:coreProperties>
</file>