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961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029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78ADD"/>
                </a:solidFill>
              </a:rPr>
              <a:t>MACHINE LEARNING  x  E-COMMERCE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Recommender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28803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4B2A9"/>
                </a:solidFill>
              </a:rPr>
              <a:t>A Two-Stage ML Pipeline for Supply-Side Pricing Intelligence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75120" y="640080"/>
            <a:ext cx="2194560" cy="1188720"/>
          </a:xfrm>
          <a:prstGeom prst="rect">
            <a:avLst/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71323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A623"/>
                </a:solidFill>
              </a:rPr>
              <a:t>711K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675120" y="13898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4B2A9"/>
                </a:solidFill>
              </a:rPr>
              <a:t>Products Analysed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75120" y="2103120"/>
            <a:ext cx="2194560" cy="1188720"/>
          </a:xfrm>
          <a:prstGeom prst="rect">
            <a:avLst/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75120" y="217627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A623"/>
                </a:solidFill>
              </a:rPr>
              <a:t>94%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675120" y="28529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4B2A9"/>
                </a:solidFill>
              </a:rPr>
              <a:t>Model Accuracy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675120" y="3566160"/>
            <a:ext cx="2194560" cy="1188720"/>
          </a:xfrm>
          <a:prstGeom prst="rect">
            <a:avLst/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363931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5A623"/>
                </a:solidFill>
              </a:rPr>
              <a:t>300+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675120" y="4315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4B2A9"/>
                </a:solidFill>
              </a:rPr>
              <a:t>Categories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Takwa Bennjima  &amp;  Yahya Mabrouk  -  AY </a:t>
            </a:r>
            <a:r>
              <a:rPr lang="en-US" sz="1000" dirty="0" smtClean="0">
                <a:solidFill>
                  <a:srgbClr val="7F8C8D"/>
                </a:solidFill>
              </a:rPr>
              <a:t>2026 </a:t>
            </a:r>
            <a:r>
              <a:rPr lang="en-US" sz="1000" dirty="0">
                <a:solidFill>
                  <a:srgbClr val="7F8C8D"/>
                </a:solidFill>
              </a:rPr>
              <a:t>/ </a:t>
            </a:r>
            <a:r>
              <a:rPr lang="en-US" sz="1000" dirty="0" smtClean="0">
                <a:solidFill>
                  <a:srgbClr val="7F8C8D"/>
                </a:solidFill>
              </a:rPr>
              <a:t>2027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78ADD"/>
                </a:solidFill>
              </a:rPr>
              <a:t>01  -  THE SPARK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AI in E-Commerce?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3A5C"/>
                </a:solidFill>
              </a:rPr>
              <a:t>Our starting point: e-commerce is drowning in data, yet most sellers price by gut feeling.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2651760" cy="2606040"/>
          </a:xfrm>
          <a:prstGeom prst="rect">
            <a:avLst/>
          </a:prstGeom>
          <a:solidFill>
            <a:srgbClr val="EAF4F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74520"/>
            <a:ext cx="2651760" cy="54864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9933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78ADD"/>
                </a:solidFill>
              </a:rPr>
              <a:t>$6T+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75488" y="2578608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E-Commerce Explosion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3017520"/>
            <a:ext cx="24323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</a:rPr>
              <a:t>Global e-commerce surpassed $6 trillion in 2024. Competition is intense -- pricing decisions are make-or-break.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874520"/>
            <a:ext cx="2651760" cy="2606040"/>
          </a:xfrm>
          <a:prstGeom prst="rect">
            <a:avLst/>
          </a:prstGeom>
          <a:solidFill>
            <a:srgbClr val="EAF4F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874520"/>
            <a:ext cx="2651760" cy="54864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9933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78ADD"/>
                </a:solidFill>
              </a:rPr>
              <a:t>ML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10128" y="2578608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AI as the Differentiator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0128" y="3017520"/>
            <a:ext cx="24323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</a:rPr>
              <a:t>ML models can process millions of product signals simultaneously -- something no human analyst can replicate.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874520"/>
            <a:ext cx="2651760" cy="2606040"/>
          </a:xfrm>
          <a:prstGeom prst="rect">
            <a:avLst/>
          </a:prstGeom>
          <a:solidFill>
            <a:srgbClr val="EAF4F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874520"/>
            <a:ext cx="2651760" cy="54864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19933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78ADD"/>
                </a:solidFill>
              </a:rPr>
              <a:t>DATA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144768" y="2578608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Data-Driven Opportunity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44768" y="3017520"/>
            <a:ext cx="24323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</a:rPr>
              <a:t>Platforms like AliExpress expose rich structured data: prices, ratings, sales, discounts -- a goldmine for ML.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-&gt;  We asked: can ML tell sellers not just WHAT to price, but HOW to price?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78ADD"/>
                </a:solidFill>
              </a:rPr>
              <a:t>02  -  THE 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Dataset That Inspired Everything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4B2A9"/>
                </a:solidFill>
              </a:rPr>
              <a:t>We did not start with a model in mind. We found the AliExpress dataset first -- and the data told us what to build.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3840480" cy="640080"/>
          </a:xfrm>
          <a:prstGeom prst="rect">
            <a:avLst/>
          </a:prstGeom>
          <a:solidFill>
            <a:srgbClr val="1C28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883664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</a:rPr>
              <a:t>711,168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Raw product listings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578608"/>
            <a:ext cx="3840480" cy="640080"/>
          </a:xfrm>
          <a:prstGeom prst="rect">
            <a:avLst/>
          </a:prstGeom>
          <a:solidFill>
            <a:srgbClr val="1C28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63347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</a:rPr>
              <a:t>300+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00200" y="27157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Product categories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328416"/>
            <a:ext cx="3840480" cy="640080"/>
          </a:xfrm>
          <a:prstGeom prst="rect">
            <a:avLst/>
          </a:prstGeom>
          <a:solidFill>
            <a:srgbClr val="1C28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3832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</a:rPr>
              <a:t>84%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346557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Products with discounts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078224"/>
            <a:ext cx="3840480" cy="640080"/>
          </a:xfrm>
          <a:prstGeom prst="rect">
            <a:avLst/>
          </a:prstGeom>
          <a:solidFill>
            <a:srgbClr val="1C28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413308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</a:rPr>
              <a:t>16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421538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Engineered features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1691640"/>
            <a:ext cx="4206240" cy="3200400"/>
          </a:xfrm>
          <a:prstGeom prst="rect">
            <a:avLst/>
          </a:prstGeom>
          <a:solidFill>
            <a:srgbClr val="1A3A5C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What the Data Revealed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9160" y="23317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8ADD"/>
                </a:solidFill>
              </a:rPr>
              <a:t>&gt;  </a:t>
            </a:r>
            <a:r>
              <a:rPr lang="en-US" sz="1100" dirty="0">
                <a:solidFill>
                  <a:srgbClr val="FFFFFF"/>
                </a:solidFill>
              </a:rPr>
              <a:t>Massive variance in pricing across similar products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99008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8ADD"/>
                </a:solidFill>
              </a:rPr>
              <a:t>&gt;  </a:t>
            </a:r>
            <a:r>
              <a:rPr lang="en-US" sz="1100" dirty="0">
                <a:solidFill>
                  <a:srgbClr val="FFFFFF"/>
                </a:solidFill>
              </a:rPr>
              <a:t>Sellers cluster into natural behavioural groups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64845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8ADD"/>
                </a:solidFill>
              </a:rPr>
              <a:t>&gt;  </a:t>
            </a:r>
            <a:r>
              <a:rPr lang="en-US" sz="1100" dirty="0">
                <a:solidFill>
                  <a:srgbClr val="FFFFFF"/>
                </a:solidFill>
              </a:rPr>
              <a:t>Rating &amp; discount patterns strongly predict sales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430682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8ADD"/>
                </a:solidFill>
              </a:rPr>
              <a:t>&gt;  </a:t>
            </a:r>
            <a:r>
              <a:rPr lang="en-US" sz="1100" dirty="0">
                <a:solidFill>
                  <a:srgbClr val="FFFFFF"/>
                </a:solidFill>
              </a:rPr>
              <a:t>No existing tool helps sellers choose a strategy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70916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378ADD"/>
                </a:solidFill>
              </a:rPr>
              <a:t>-&gt;  The gaps in the data defined our research question.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78ADD"/>
                </a:solidFill>
              </a:rPr>
              <a:t>03  -  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Pricing Strategy Gap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97480" cy="2834640"/>
          </a:xfrm>
          <a:prstGeom prst="rect">
            <a:avLst/>
          </a:prstGeom>
          <a:solidFill>
            <a:srgbClr val="EAF4F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697480" cy="6400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4173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74C3C"/>
                </a:solidFill>
              </a:rPr>
              <a:t>55%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20299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of products underperform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46888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</a:rPr>
              <a:t>Despite competitive prices, most AliExpress listings fail to generate meaningful sales volume.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97480" cy="2834640"/>
          </a:xfrm>
          <a:prstGeom prst="rect">
            <a:avLst/>
          </a:prstGeom>
          <a:solidFill>
            <a:srgbClr val="EAF4F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88720"/>
            <a:ext cx="2697480" cy="6400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4173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74C3C"/>
                </a:solidFill>
              </a:rPr>
              <a:t>No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291840" y="20299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clear strategic guide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246888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</a:rPr>
              <a:t>Pricing tools focus on consumer-side demand. Supply-side strategy recommendations simply do not exist.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1188720"/>
            <a:ext cx="2697480" cy="2834640"/>
          </a:xfrm>
          <a:prstGeom prst="rect">
            <a:avLst/>
          </a:prstGeom>
          <a:solidFill>
            <a:srgbClr val="EAF4F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188720"/>
            <a:ext cx="2697480" cy="6400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141732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74C3C"/>
                </a:solidFill>
              </a:rPr>
              <a:t>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172200" y="202996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dedicated tools for sellers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72200" y="246888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5C"/>
                </a:solidFill>
              </a:rPr>
              <a:t>Sellers cannot tell which pricing approach -- heavy discount vs premium -- works best in their category.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4206240"/>
            <a:ext cx="8503920" cy="749808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2793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378ADD"/>
                </a:solidFill>
              </a:rPr>
              <a:t>Research Question: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455371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"What pricing strategies do sellers adopt -- and which performs best per product category?"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78ADD"/>
                </a:solidFill>
              </a:rPr>
              <a:t>04  -  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Two-Stage ML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3474720"/>
          </a:xfrm>
          <a:prstGeom prst="rect">
            <a:avLst/>
          </a:prstGeom>
          <a:solidFill>
            <a:srgbClr val="1C28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3931920" cy="475488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STAGE 1  -  UNSUPERVISED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</a:rPr>
              <a:t>K-Means Clustering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4B2A9"/>
                </a:solidFill>
              </a:rPr>
              <a:t>No labels existed -- we used clustering to discover natural pricing archetypes in the data.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443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8ADD"/>
                </a:solidFill>
              </a:rPr>
              <a:t>+ </a:t>
            </a:r>
            <a:r>
              <a:rPr lang="en-US" sz="1050" dirty="0">
                <a:solidFill>
                  <a:srgbClr val="FFFFFF"/>
                </a:solidFill>
              </a:rPr>
              <a:t>K=3 (Elbow + Silhouette methods)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8ADD"/>
                </a:solidFill>
              </a:rPr>
              <a:t>+ </a:t>
            </a:r>
            <a:r>
              <a:rPr lang="en-US" sz="1050" dirty="0">
                <a:solidFill>
                  <a:srgbClr val="FFFFFF"/>
                </a:solidFill>
              </a:rPr>
              <a:t>Silhouette Score: 0.31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7307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8ADD"/>
                </a:solidFill>
              </a:rPr>
              <a:t>+ </a:t>
            </a:r>
            <a:r>
              <a:rPr lang="en-US" sz="1050" dirty="0">
                <a:solidFill>
                  <a:srgbClr val="FFFFFF"/>
                </a:solidFill>
              </a:rPr>
              <a:t>711,168 products clustered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41239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8ADD"/>
                </a:solidFill>
              </a:rPr>
              <a:t>+ </a:t>
            </a:r>
            <a:r>
              <a:rPr lang="en-US" sz="1050" dirty="0">
                <a:solidFill>
                  <a:srgbClr val="FFFFFF"/>
                </a:solidFill>
              </a:rPr>
              <a:t>Identified 3 pricing personalities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15968" y="26060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78ADD"/>
                </a:solidFill>
              </a:rPr>
              <a:t>-&gt;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892040" y="1143000"/>
            <a:ext cx="3931920" cy="3474720"/>
          </a:xfrm>
          <a:prstGeom prst="rect">
            <a:avLst/>
          </a:prstGeom>
          <a:solidFill>
            <a:srgbClr val="1C28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92040" y="1143000"/>
            <a:ext cx="3931920" cy="47548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</a:rPr>
              <a:t>STAGE 2  -  SUPERVISED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17373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</a:rPr>
              <a:t>Random Forest Classifier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983480" y="221284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4B2A9"/>
                </a:solidFill>
              </a:rPr>
              <a:t>Cluster labels become training targets -- model learns to predict strategy for new products.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9443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</a:rPr>
              <a:t>+ </a:t>
            </a:r>
            <a:r>
              <a:rPr lang="en-US" sz="1050" dirty="0">
                <a:solidFill>
                  <a:srgbClr val="FFFFFF"/>
                </a:solidFill>
              </a:rPr>
              <a:t>3 candidate models compared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83480" y="3337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</a:rPr>
              <a:t>+ </a:t>
            </a:r>
            <a:r>
              <a:rPr lang="en-US" sz="1050" dirty="0">
                <a:solidFill>
                  <a:srgbClr val="FFFFFF"/>
                </a:solidFill>
              </a:rPr>
              <a:t>5-fold cross-validation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83480" y="37307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</a:rPr>
              <a:t>+ </a:t>
            </a:r>
            <a:r>
              <a:rPr lang="en-US" sz="1050" dirty="0">
                <a:solidFill>
                  <a:srgbClr val="FFFFFF"/>
                </a:solidFill>
              </a:rPr>
              <a:t>Bayesian hyperparameter tuning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83480" y="41239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AE60"/>
                </a:solidFill>
              </a:rPr>
              <a:t>+ </a:t>
            </a:r>
            <a:r>
              <a:rPr lang="en-US" sz="1050" dirty="0">
                <a:solidFill>
                  <a:srgbClr val="FFFFFF"/>
                </a:solidFill>
              </a:rPr>
              <a:t>16 engineered features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8ADD"/>
                </a:solidFill>
              </a:rPr>
              <a:t>Cluster labels from Stage 1 are the supervised targets for Stage 2 -- no manual labelling needed.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78ADD"/>
                </a:solidFill>
              </a:rPr>
              <a:t>05  -  CLUSTERING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Pricing Strategy Archetypes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97480" cy="3749040"/>
          </a:xfrm>
          <a:prstGeom prst="rect">
            <a:avLst/>
          </a:prstGeom>
          <a:solidFill>
            <a:srgbClr val="EAF4F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2697480" cy="640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2618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7AE60"/>
                </a:solidFill>
              </a:rPr>
              <a:t>A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85800" y="1810512"/>
            <a:ext cx="1965960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28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WINNING STRATEGY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21284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Smart Discounter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" y="28163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</a:rPr>
              <a:t>Avg Sold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554480" y="28163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131 units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768" y="32552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</a:rPr>
              <a:t>Avg Price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554480" y="32552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46 SAR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9768" y="369417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</a:rPr>
              <a:t>Rating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554480" y="36941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4.77 / 5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29768" y="41330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</a:rPr>
              <a:t>Share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554480" y="41330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36.7%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1143000"/>
            <a:ext cx="2697480" cy="3749040"/>
          </a:xfrm>
          <a:prstGeom prst="rect">
            <a:avLst/>
          </a:prstGeom>
          <a:solidFill>
            <a:srgbClr val="FFF0F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1143000"/>
            <a:ext cx="2697480" cy="64008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0" y="12618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74C3C"/>
                </a:solidFill>
              </a:rPr>
              <a:t>B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3566160" y="1810512"/>
            <a:ext cx="1965960" cy="320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1828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AVOID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91840" y="221284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Overpriced Low Performer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10128" y="28163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</a:rPr>
              <a:t>Avg Sold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434840" y="28163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7 units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10128" y="32552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</a:rPr>
              <a:t>Avg Price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434840" y="32552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1,252 SAR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10128" y="369417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</a:rPr>
              <a:t>Rating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434840" y="36941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1.32 / 5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10128" y="41330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</a:rPr>
              <a:t>Share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434840" y="41330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8.2%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80760" y="1143000"/>
            <a:ext cx="2697480" cy="3749040"/>
          </a:xfrm>
          <a:prstGeom prst="rect">
            <a:avLst/>
          </a:prstGeom>
          <a:solidFill>
            <a:srgbClr val="FFFBF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80760" y="1143000"/>
            <a:ext cx="269748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5" name="Text 33"/>
          <p:cNvSpPr/>
          <p:nvPr/>
        </p:nvSpPr>
        <p:spPr>
          <a:xfrm>
            <a:off x="6080760" y="12618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A623"/>
                </a:solidFill>
              </a:rPr>
              <a:t>C</a:t>
            </a:r>
            <a:endParaRPr lang="en-US" sz="3000" dirty="0"/>
          </a:p>
        </p:txBody>
      </p:sp>
      <p:sp>
        <p:nvSpPr>
          <p:cNvPr id="36" name="Shape 34"/>
          <p:cNvSpPr/>
          <p:nvPr/>
        </p:nvSpPr>
        <p:spPr>
          <a:xfrm>
            <a:off x="6446520" y="1810512"/>
            <a:ext cx="1965960" cy="3200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1828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NEEDS FIX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72200" y="221284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Underperformer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190488" y="28163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</a:rPr>
              <a:t>Avg Sold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315200" y="28163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2 units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90488" y="325526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</a:rPr>
              <a:t>Avg Price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315200" y="325526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94 SAR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90488" y="369417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</a:rPr>
              <a:t>Rating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315200" y="369417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0.70 / 5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90488" y="413308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8D"/>
                </a:solidFill>
              </a:rPr>
              <a:t>Share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315200" y="41330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55.1%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K-Means  -  K=3  -  Silhouette Score = 0.31  -  711,168 products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78ADD"/>
                </a:solidFill>
              </a:rPr>
              <a:t>06  -  MODEL EVALUATION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Metrics, Models &amp; Why We Care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3749040"/>
          </a:xfrm>
          <a:prstGeom prst="rect">
            <a:avLst/>
          </a:prstGeom>
          <a:solidFill>
            <a:srgbClr val="1C28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344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Model Comparison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8ADD"/>
                </a:solidFill>
              </a:rPr>
              <a:t>Model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87168" y="1691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8ADD"/>
                </a:solidFill>
              </a:rPr>
              <a:t>Accuracy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511296" y="16916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78ADD"/>
                </a:solidFill>
              </a:rPr>
              <a:t>F1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0665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Logistic Regression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87168" y="206654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4B2A9"/>
                </a:solidFill>
              </a:rPr>
              <a:t>91.71%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11296" y="206654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4B2A9"/>
                </a:solidFill>
              </a:rPr>
              <a:t>91.76%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59689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XGBoost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487168" y="259689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4B2A9"/>
                </a:solidFill>
              </a:rPr>
              <a:t>93.77%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511296" y="259689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4B2A9"/>
                </a:solidFill>
              </a:rPr>
              <a:t>93.79%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054096"/>
            <a:ext cx="3977640" cy="47548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127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</a:rPr>
              <a:t>Random Forest (Tuned)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87168" y="312724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</a:rPr>
              <a:t>94.17%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11296" y="312724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A623"/>
                </a:solidFill>
              </a:rPr>
              <a:t>94.19%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06240" y="316382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7AE60"/>
                </a:solidFill>
              </a:rPr>
              <a:t>[OK]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1480" y="3657600"/>
            <a:ext cx="3977640" cy="1005840"/>
          </a:xfrm>
          <a:prstGeom prst="rect">
            <a:avLst/>
          </a:prstGeom>
          <a:solidFill>
            <a:srgbClr val="111927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7124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78ADD"/>
                </a:solidFill>
              </a:rPr>
              <a:t>5-Fold Cross-Validation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40233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Mean F1 = 93.28%   Std = 0.12%   -&gt; Stable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1143000"/>
            <a:ext cx="4114800" cy="3749040"/>
          </a:xfrm>
          <a:prstGeom prst="rect">
            <a:avLst/>
          </a:prstGeom>
          <a:solidFill>
            <a:srgbClr val="1C28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00600" y="12344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Why These Metrics?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1691640"/>
            <a:ext cx="3977640" cy="65836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73736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Accuracy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199339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Overall correctness -- easy to communicate to stakeholders.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441448"/>
            <a:ext cx="3977640" cy="65836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48716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F1 Score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27432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Balances precision &amp; recall -- critical when classes are imbalanced.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191256"/>
            <a:ext cx="3977640" cy="65836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23697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AUC-ROC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349300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Measures ranking ability across all thresholds -- more rigorous than accuracy.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941064"/>
            <a:ext cx="3977640" cy="65836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39867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Confusion Matrix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46320" y="424281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Shows which classes are confused -- guides targeted improvements.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78ADD"/>
                </a:solidFill>
              </a:rPr>
              <a:t>07  -  KEY FINDINGS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Reveals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97480" cy="1737360"/>
          </a:xfrm>
          <a:prstGeom prst="rect">
            <a:avLst/>
          </a:prstGeom>
          <a:solidFill>
            <a:srgbClr val="EAF4F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54864" cy="173736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161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8ADD"/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673352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Smart Discounter wins everywhere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167128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</a:rPr>
              <a:t>Wins in 99.3% of all 300+ categories -- the strategy is universal, not category-specific.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697480" cy="1737360"/>
          </a:xfrm>
          <a:prstGeom prst="rect">
            <a:avLst/>
          </a:prstGeom>
          <a:solidFill>
            <a:srgbClr val="EAF4F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43000"/>
            <a:ext cx="54864" cy="173736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2161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8ADD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37560" y="1673352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Rating is the #1 success driver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37560" y="2167128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</a:rPr>
              <a:t>Feature importance = 34%. High rating (4.5+) is the single strongest predictor of success.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1143000"/>
            <a:ext cx="2697480" cy="1737360"/>
          </a:xfrm>
          <a:prstGeom prst="rect">
            <a:avLst/>
          </a:prstGeom>
          <a:solidFill>
            <a:srgbClr val="EAF4F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143000"/>
            <a:ext cx="54864" cy="173736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2161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8ADD"/>
                </a:solidFill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17920" y="1673352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18x sales gap between strategies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0" y="2167128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</a:rPr>
              <a:t>Smart Discounter averages 131 units sold vs 7 for Overpriced and 2 for Underperformer.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063240"/>
            <a:ext cx="2697480" cy="1737360"/>
          </a:xfrm>
          <a:prstGeom prst="rect">
            <a:avLst/>
          </a:prstGeom>
          <a:solidFill>
            <a:srgbClr val="EAF4F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063240"/>
            <a:ext cx="54864" cy="173736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1363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8ADD"/>
                </a:solidFill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7200" y="3593592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Discounting is the norm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087368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</a:rPr>
              <a:t>84% of products are discounted. 50% discount is the most popular tier -- psychological pricing.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3063240"/>
            <a:ext cx="2697480" cy="1737360"/>
          </a:xfrm>
          <a:prstGeom prst="rect">
            <a:avLst/>
          </a:prstGeom>
          <a:solidFill>
            <a:srgbClr val="EAF4F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3063240"/>
            <a:ext cx="54864" cy="173736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27" name="Text 25"/>
          <p:cNvSpPr/>
          <p:nvPr/>
        </p:nvSpPr>
        <p:spPr>
          <a:xfrm>
            <a:off x="3337560" y="31363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8ADD"/>
                </a:solidFill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337560" y="3593592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Category barely matters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337560" y="4087368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</a:rPr>
              <a:t>category_id has only 2% feature importance -- same strategy works across electronics, fashion, beauty.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80760" y="3063240"/>
            <a:ext cx="2697480" cy="1737360"/>
          </a:xfrm>
          <a:prstGeom prst="rect">
            <a:avLst/>
          </a:prstGeom>
          <a:solidFill>
            <a:srgbClr val="EAF4F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3063240"/>
            <a:ext cx="54864" cy="173736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313639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8ADD"/>
                </a:solidFill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217920" y="3593592"/>
            <a:ext cx="24871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Free shipping = competitive edge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17920" y="4087368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3A5C"/>
                </a:solidFill>
              </a:rPr>
              <a:t>Only 30% offer free shipping -- a clear, underutilised differentiation opportunity.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78ADD"/>
                </a:solidFill>
              </a:rPr>
              <a:t>08  -  THE PRODUCT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Strategy Recommender App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3474720"/>
          </a:xfrm>
          <a:prstGeom prst="rect">
            <a:avLst/>
          </a:prstGeom>
          <a:solidFill>
            <a:srgbClr val="1C28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3931920" cy="41148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INPUT -- What the seller provides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3749040" cy="53035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709928"/>
            <a:ext cx="3529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1.  Product Category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22576"/>
            <a:ext cx="3749040" cy="53035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368296"/>
            <a:ext cx="3529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2.  Current Price (SAR)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80944"/>
            <a:ext cx="3749040" cy="53035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026664"/>
            <a:ext cx="3529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3.  Customer Rating (0-5)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39312"/>
            <a:ext cx="3749040" cy="53035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685032"/>
            <a:ext cx="3529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4.  Shipping: Free or Paid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15968" y="26060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A623"/>
                </a:solidFill>
              </a:rPr>
              <a:t>-&gt;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892040" y="1143000"/>
            <a:ext cx="3931920" cy="3474720"/>
          </a:xfrm>
          <a:prstGeom prst="rect">
            <a:avLst/>
          </a:prstGeom>
          <a:solidFill>
            <a:srgbClr val="1C2833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92040" y="1143000"/>
            <a:ext cx="3931920" cy="411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OUTPUT -- What the seller receives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83480" y="166420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</a:rPr>
              <a:t>&gt;  </a:t>
            </a:r>
            <a:r>
              <a:rPr lang="en-US" sz="1050" dirty="0">
                <a:solidFill>
                  <a:srgbClr val="FFFFFF"/>
                </a:solidFill>
              </a:rPr>
              <a:t>Predicted strategy + confidence score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83480" y="232257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</a:rPr>
              <a:t>&gt;  </a:t>
            </a:r>
            <a:r>
              <a:rPr lang="en-US" sz="1050" dirty="0">
                <a:solidFill>
                  <a:srgbClr val="FFFFFF"/>
                </a:solidFill>
              </a:rPr>
              <a:t>Recommended discount range (25-50%)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83480" y="298094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</a:rPr>
              <a:t>&gt;  </a:t>
            </a:r>
            <a:r>
              <a:rPr lang="en-US" sz="1050" dirty="0">
                <a:solidFill>
                  <a:srgbClr val="FFFFFF"/>
                </a:solidFill>
              </a:rPr>
              <a:t>Radar chart vs ideal Smart Discounter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83480" y="363931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</a:rPr>
              <a:t>&gt;  </a:t>
            </a:r>
            <a:r>
              <a:rPr lang="en-US" sz="1050" dirty="0">
                <a:solidFill>
                  <a:srgbClr val="FFFFFF"/>
                </a:solidFill>
              </a:rPr>
              <a:t>3-step personalised action plan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83480" y="42976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A623"/>
                </a:solidFill>
              </a:rPr>
              <a:t>&gt;  </a:t>
            </a:r>
            <a:r>
              <a:rPr lang="en-US" sz="1050" dirty="0">
                <a:solidFill>
                  <a:srgbClr val="FFFFFF"/>
                </a:solidFill>
              </a:rPr>
              <a:t>Category insights + avg units sold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78ADD"/>
                </a:solidFill>
              </a:rPr>
              <a:t>Built with Streamlit  -  Model serialised with joblib  -  Deployable in one command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378ADD"/>
                </a:solidFill>
              </a:rPr>
              <a:t>09  -  CONCLUSION &amp; Q&amp;A PREP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Takeaways &amp; Anticipated Questions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743200" cy="804672"/>
          </a:xfrm>
          <a:prstGeom prst="rect">
            <a:avLst/>
          </a:prstGeom>
          <a:solidFill>
            <a:srgbClr val="EAF4F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64008" cy="804672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07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</a:rPr>
              <a:t>94.17%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2920" y="16733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Model Accuracy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084832"/>
            <a:ext cx="2743200" cy="804672"/>
          </a:xfrm>
          <a:prstGeom prst="rect">
            <a:avLst/>
          </a:prstGeom>
          <a:solidFill>
            <a:srgbClr val="EAF4F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084832"/>
            <a:ext cx="64008" cy="804672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1214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</a:rPr>
              <a:t>93.28%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25877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CV Mean F1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999232"/>
            <a:ext cx="2743200" cy="804672"/>
          </a:xfrm>
          <a:prstGeom prst="rect">
            <a:avLst/>
          </a:prstGeom>
          <a:solidFill>
            <a:srgbClr val="EAF4F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999232"/>
            <a:ext cx="64008" cy="804672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0358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</a:rPr>
              <a:t>0.12%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02920" y="35021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CV Std (Stable)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3913632"/>
            <a:ext cx="2743200" cy="804672"/>
          </a:xfrm>
          <a:prstGeom prst="rect">
            <a:avLst/>
          </a:prstGeom>
          <a:solidFill>
            <a:srgbClr val="EAF4F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913632"/>
            <a:ext cx="64008" cy="804672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9502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</a:rPr>
              <a:t>18x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02920" y="44165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Sales Gap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20440" y="118872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20440" y="162763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20440" y="18562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20440" y="2249424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20440" y="247802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20440" y="2871216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20440" y="309981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520440" y="3493008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520440" y="372160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520440" y="411480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20440" y="434340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4B2A9"/>
                </a:solidFill>
              </a:rPr>
              <a:t>Smart Discounter wins 99.3% of categories  -  Rating #1 driver (34%)  -  18x more sales</a:t>
            </a:r>
            <a:endParaRPr lang="en-US" sz="950" dirty="0"/>
          </a:p>
        </p:txBody>
      </p:sp>
      <p:pic>
        <p:nvPicPr>
          <p:cNvPr id="35" name="Image 3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6764" y="834284"/>
            <a:ext cx="6732352" cy="4018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66" y="76200"/>
            <a:ext cx="8074996" cy="4809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396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44" y="105507"/>
            <a:ext cx="8229930" cy="491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675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920</Words>
  <Application>Microsoft Office PowerPoint</Application>
  <PresentationFormat>Affichage à l'écran (16:9)</PresentationFormat>
  <Paragraphs>191</Paragraphs>
  <Slides>12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AliExpress Pricing Strategy Recommender</dc:title>
  <dc:subject>PptxGenJS Presentation</dc:subject>
  <dc:creator>PptxGenJS</dc:creator>
  <cp:lastModifiedBy>HP USER</cp:lastModifiedBy>
  <cp:revision>3</cp:revision>
  <dcterms:created xsi:type="dcterms:W3CDTF">2026-04-11T17:08:18Z</dcterms:created>
  <dcterms:modified xsi:type="dcterms:W3CDTF">2026-04-11T19:29:35Z</dcterms:modified>
</cp:coreProperties>
</file>